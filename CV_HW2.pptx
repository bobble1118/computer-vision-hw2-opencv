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F549"/>
    <a:srgbClr val="D4C8FC"/>
    <a:srgbClr val="C0FCFC"/>
    <a:srgbClr val="EAA59A"/>
    <a:srgbClr val="90B0B2"/>
    <a:srgbClr val="CBB5CB"/>
    <a:srgbClr val="FFFFFF"/>
    <a:srgbClr val="6076B4"/>
    <a:srgbClr val="687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607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85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89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68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3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7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092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95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72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46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45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74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DC48F-B406-4F13-9918-E22D5FCE92E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ED824-71C3-41A3-8278-DF38B7D936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8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hjk303885122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pm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2734310" y="2387600"/>
            <a:ext cx="6893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Homework 2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2564130" y="3429000"/>
            <a:ext cx="7063740" cy="0"/>
          </a:xfrm>
          <a:prstGeom prst="line">
            <a:avLst/>
          </a:prstGeom>
          <a:ln w="38100">
            <a:solidFill>
              <a:srgbClr val="6076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7227207" y="4829800"/>
            <a:ext cx="4863193" cy="115444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pPr algn="l">
              <a:defRPr/>
            </a:pPr>
            <a:r>
              <a:rPr lang="en-US" altLang="zh-TW" sz="2000" b="0" dirty="0">
                <a:solidFill>
                  <a:schemeClr val="tx1"/>
                </a:solidFill>
              </a:rPr>
              <a:t>TA: </a:t>
            </a:r>
            <a:r>
              <a:rPr lang="zh-TW" altLang="en-US" sz="2000" b="0" dirty="0">
                <a:solidFill>
                  <a:schemeClr val="tx1"/>
                </a:solidFill>
              </a:rPr>
              <a:t>吳承翰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en-US" altLang="zh-TW" sz="2000" b="0" dirty="0">
                <a:solidFill>
                  <a:schemeClr val="tx1"/>
                </a:solidFill>
              </a:rPr>
              <a:t>Email: </a:t>
            </a:r>
            <a:r>
              <a:rPr lang="en-US" altLang="zh-TW" sz="2000" b="0" dirty="0">
                <a:solidFill>
                  <a:schemeClr val="tx1"/>
                </a:solidFill>
                <a:hlinkClick r:id="rId2"/>
              </a:rPr>
              <a:t>hjk303885122@gmail.com</a:t>
            </a:r>
            <a:endParaRPr lang="en-US" altLang="zh-TW" sz="2000" b="0" dirty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en-US" altLang="zh-TW" sz="2000" b="0">
                <a:solidFill>
                  <a:schemeClr val="tx1"/>
                </a:solidFill>
              </a:rPr>
              <a:t>SAC Lab (Room 122)</a:t>
            </a:r>
            <a:endParaRPr lang="en-US" altLang="zh-TW" sz="2000" b="0" dirty="0">
              <a:solidFill>
                <a:schemeClr val="tx1"/>
              </a:solidFill>
            </a:endParaRPr>
          </a:p>
        </p:txBody>
      </p:sp>
      <p:pic>
        <p:nvPicPr>
          <p:cNvPr id="14" name="Picture 2" descr="C:\Users\Jeremy\Desktop\RVL logo\RVL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229200"/>
            <a:ext cx="2824396" cy="158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2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396240" y="609600"/>
            <a:ext cx="242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Homework 2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6240" y="1194375"/>
            <a:ext cx="11470640" cy="520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one image with </a:t>
            </a:r>
            <a:r>
              <a:rPr lang="en-US" altLang="zh-TW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Salt &amp; Pepper Noise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(noise_image.png)  for testing as follow: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the kernel size, stride size, padding size by yourself.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(save as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output1.png)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the kernel size, stride size, padding size by yourself.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(save as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output2.png)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Histogram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accumulate the number of each pixel value, then draw a histogram for each image.</a:t>
            </a:r>
            <a:b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(save as : noise_image_his.png, output1_his.png, output2_his.png)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filter has better result ? Please describe what you observe on two output images generated by two different filters in your report.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zh-TW" altLang="en-US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totally  5 images in your report.</a:t>
            </a:r>
          </a:p>
        </p:txBody>
      </p:sp>
    </p:spTree>
    <p:extLst>
      <p:ext uri="{BB962C8B-B14F-4D97-AF65-F5344CB8AC3E}">
        <p14:creationId xmlns:p14="http://schemas.microsoft.com/office/powerpoint/2010/main" val="270541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Filter and Median Filter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5">
            <a:extLst>
              <a:ext uri="{FF2B5EF4-FFF2-40B4-BE49-F238E27FC236}">
                <a16:creationId xmlns:a16="http://schemas.microsoft.com/office/drawing/2014/main" id="{A3B5C535-50C3-4908-9D3C-4504A13F9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1736812"/>
            <a:ext cx="835760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9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228112"/>
              </p:ext>
            </p:extLst>
          </p:nvPr>
        </p:nvGraphicFramePr>
        <p:xfrm>
          <a:off x="396240" y="2285000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82033403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63772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54041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19778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927589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9949257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375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216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724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F5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24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707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55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231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01256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35322"/>
              </p:ext>
            </p:extLst>
          </p:nvPr>
        </p:nvGraphicFramePr>
        <p:xfrm>
          <a:off x="5019040" y="3095000"/>
          <a:ext cx="162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82033403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63772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540411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375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724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1/9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F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242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zh-TW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3*3 Mean Filter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160000" y="3551057"/>
            <a:ext cx="33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*</a:t>
            </a:r>
            <a:endParaRPr lang="zh-TW" altLang="en-US" sz="4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073999"/>
              </p:ext>
            </p:extLst>
          </p:nvPr>
        </p:nvGraphicFramePr>
        <p:xfrm>
          <a:off x="8021840" y="2825000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4838191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562668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103954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289756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93896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357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75433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115026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62800" y="3551057"/>
            <a:ext cx="33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=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546600" y="5787718"/>
                <a:ext cx="8564880" cy="7771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152+124+252+128+40+220+68+157+24</m:t>
                              </m:r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=129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600" y="5787718"/>
                <a:ext cx="8564880" cy="777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  <a:prstDash val="lg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>
            <a:stCxn id="8" idx="0"/>
          </p:cNvCxnSpPr>
          <p:nvPr/>
        </p:nvCxnSpPr>
        <p:spPr>
          <a:xfrm flipV="1">
            <a:off x="5829040" y="3261360"/>
            <a:ext cx="2441200" cy="2526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1518400" y="1925072"/>
            <a:ext cx="9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96240" y="1379348"/>
            <a:ext cx="73413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kernel size increases, the image will become more blurry.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59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841486"/>
              </p:ext>
            </p:extLst>
          </p:nvPr>
        </p:nvGraphicFramePr>
        <p:xfrm>
          <a:off x="396240" y="2060029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82033403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63772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54041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19778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927589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9949257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375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216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724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F5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24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707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55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231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01256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zh-TW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3*3 Median Filter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325300"/>
              </p:ext>
            </p:extLst>
          </p:nvPr>
        </p:nvGraphicFramePr>
        <p:xfrm>
          <a:off x="9728720" y="2608254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4838191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562668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103954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289756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93896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357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75433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115026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017760" y="3479974"/>
            <a:ext cx="5329440" cy="400110"/>
          </a:xfrm>
          <a:prstGeom prst="rect">
            <a:avLst/>
          </a:prstGeom>
          <a:noFill/>
          <a:ln>
            <a:noFill/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Sorting</a:t>
            </a:r>
            <a:r>
              <a:rPr lang="zh-TW" altLang="en-US" sz="2000" dirty="0"/>
              <a:t>：</a:t>
            </a:r>
            <a:r>
              <a:rPr lang="en-US" altLang="zh-TW" sz="2000" dirty="0"/>
              <a:t>24, 40, 68, 124, 128, 152, 157, 220, 252</a:t>
            </a:r>
            <a:endParaRPr lang="zh-TW" altLang="en-US" sz="2000" dirty="0"/>
          </a:p>
        </p:txBody>
      </p:sp>
      <p:sp>
        <p:nvSpPr>
          <p:cNvPr id="9" name="橢圓 8"/>
          <p:cNvSpPr/>
          <p:nvPr/>
        </p:nvSpPr>
        <p:spPr>
          <a:xfrm>
            <a:off x="6682480" y="3479974"/>
            <a:ext cx="538480" cy="41656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518400" y="5300029"/>
            <a:ext cx="9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96240" y="1379348"/>
            <a:ext cx="73413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nonlinear filter.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6240" y="5614950"/>
            <a:ext cx="532488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zh-TW" altLang="en-US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implement the sorting algorithm by yourself.</a:t>
            </a:r>
          </a:p>
        </p:txBody>
      </p:sp>
    </p:spTree>
    <p:extLst>
      <p:ext uri="{BB962C8B-B14F-4D97-AF65-F5344CB8AC3E}">
        <p14:creationId xmlns:p14="http://schemas.microsoft.com/office/powerpoint/2010/main" val="2308707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Histogram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1750356" y="2240815"/>
            <a:ext cx="8691287" cy="2808312"/>
            <a:chOff x="1232196" y="2024844"/>
            <a:chExt cx="8691287" cy="2808312"/>
          </a:xfrm>
        </p:grpSpPr>
        <p:pic>
          <p:nvPicPr>
            <p:cNvPr id="3" name="內容版面配置區 5">
              <a:extLst>
                <a:ext uri="{FF2B5EF4-FFF2-40B4-BE49-F238E27FC236}">
                  <a16:creationId xmlns:a16="http://schemas.microsoft.com/office/drawing/2014/main" id="{C1CCE2B7-EAC2-448B-92A7-B43E0055B0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167"/>
            <a:stretch/>
          </p:blipFill>
          <p:spPr>
            <a:xfrm>
              <a:off x="1232196" y="2024844"/>
              <a:ext cx="8691287" cy="2808312"/>
            </a:xfrm>
            <a:prstGeom prst="rect">
              <a:avLst/>
            </a:prstGeom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CBA0E0FD-D169-4967-90FF-D588548748CC}"/>
                </a:ext>
              </a:extLst>
            </p:cNvPr>
            <p:cNvCxnSpPr/>
            <p:nvPr/>
          </p:nvCxnSpPr>
          <p:spPr>
            <a:xfrm>
              <a:off x="4362976" y="3432800"/>
              <a:ext cx="57606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字方塊 5"/>
          <p:cNvSpPr txBox="1"/>
          <p:nvPr/>
        </p:nvSpPr>
        <p:spPr>
          <a:xfrm>
            <a:off x="396240" y="1364445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of each pixel’s intensity (0~255)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750356" y="5140666"/>
            <a:ext cx="336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table to record the number of each pixel’s intensity.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698276" y="5140666"/>
            <a:ext cx="336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draw the histogram by using the functions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0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zh-TW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Histogram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09239"/>
              </p:ext>
            </p:extLst>
          </p:nvPr>
        </p:nvGraphicFramePr>
        <p:xfrm>
          <a:off x="396240" y="1502680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82033403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63772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54041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19778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927589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9949257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375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724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24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707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55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01256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1518400" y="4742680"/>
            <a:ext cx="9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>
            <a:off x="3779520" y="2102544"/>
            <a:ext cx="1178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874337" y="1733212"/>
            <a:ext cx="988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30956"/>
              </p:ext>
            </p:extLst>
          </p:nvPr>
        </p:nvGraphicFramePr>
        <p:xfrm>
          <a:off x="5101359" y="1547038"/>
          <a:ext cx="659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760">
                  <a:extLst>
                    <a:ext uri="{9D8B030D-6E8A-4147-A177-3AD203B41FA5}">
                      <a16:colId xmlns:a16="http://schemas.microsoft.com/office/drawing/2014/main" val="3761606431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1578607163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2587499645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3338183346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977051956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2106695976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242771552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1730964846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1894805099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1457926712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3938088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02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en-US" altLang="zh-TW" b="0" dirty="0" err="1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94232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396240" y="6050959"/>
            <a:ext cx="826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zh-TW" i="1" u="sng" dirty="0">
                <a:solidFill>
                  <a:srgbClr val="0070C0"/>
                </a:solidFill>
              </a:rPr>
              <a:t>The sum of #</a:t>
            </a:r>
            <a:r>
              <a:rPr lang="en-US" altLang="zh-TW" i="1" u="sng" dirty="0" err="1">
                <a:solidFill>
                  <a:srgbClr val="0070C0"/>
                </a:solidFill>
              </a:rPr>
              <a:t>num</a:t>
            </a:r>
            <a:r>
              <a:rPr lang="en-US" altLang="zh-TW" i="1" u="sng" dirty="0">
                <a:solidFill>
                  <a:srgbClr val="0070C0"/>
                </a:solidFill>
              </a:rPr>
              <a:t> must be equal to width of image * height of image</a:t>
            </a:r>
            <a:endParaRPr lang="zh-TW" altLang="en-US" i="1" u="sng" dirty="0">
              <a:solidFill>
                <a:srgbClr val="0070C0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94" y="3344675"/>
            <a:ext cx="3728012" cy="279600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直線單箭頭接點 13"/>
          <p:cNvCxnSpPr/>
          <p:nvPr/>
        </p:nvCxnSpPr>
        <p:spPr>
          <a:xfrm>
            <a:off x="9221132" y="2495663"/>
            <a:ext cx="0" cy="6270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584074" y="2624505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histogram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27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Grading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974815" y="1194375"/>
            <a:ext cx="10242369" cy="4838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(80%)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Filter (30%)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 (30%)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Histogram (20%)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(20%)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explain your code.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compare two result images that were generated by two different filters and describe what you observe.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describe the difference between three histograms, and explain the reason.</a:t>
            </a:r>
          </a:p>
          <a:p>
            <a:pPr marL="800100"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paste five output images in your report.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03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Folder Structure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84281" y="1582180"/>
            <a:ext cx="30243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611415047_hw2/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test_img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noise_image.png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result_img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output1.png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output2.png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noise_image_his.png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output1_his.png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output2_his.png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611415047_hw2.py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611415047_hw2.pdf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Readme.txt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784281" y="1194375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057066" y="1582180"/>
            <a:ext cx="302433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611415047_hw2/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project_hw2/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test_img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noise_image.png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result_img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output1.png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output2.png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noise_image_his.png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output1_his.png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output2_his.png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include/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│  ├─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func.h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func.cpp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main.cpp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611415047_hw2.pdf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Readme.txt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057066" y="1194375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C/C++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57794" y="5244721"/>
            <a:ext cx="4258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altLang="zh-TW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compress your folder to a zip file.</a:t>
            </a:r>
            <a:endParaRPr lang="zh-TW" altLang="en-US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57794" y="5695405"/>
            <a:ext cx="398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611415047_hw2.zip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6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96240" y="6096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endParaRPr lang="zh-TW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74815" y="1741037"/>
            <a:ext cx="102423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2025/4/24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(Fri) 23:59:59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hour late, 10% of the total score will be deducted.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submit to eCourse2.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finish your homework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44300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035775" y="2967335"/>
            <a:ext cx="10242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Times New Roman" pitchFamily="18" charset="0"/>
                <a:ea typeface="華康POP1體W5" panose="040B0509000000000000" pitchFamily="81" charset="-120"/>
                <a:cs typeface="Times New Roman" pitchFamily="18" charset="0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7335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739</Words>
  <Application>Microsoft Office PowerPoint</Application>
  <PresentationFormat>寬螢幕</PresentationFormat>
  <Paragraphs>223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黃一釗</dc:creator>
  <cp:lastModifiedBy>hank Wu</cp:lastModifiedBy>
  <cp:revision>286</cp:revision>
  <dcterms:created xsi:type="dcterms:W3CDTF">2023-04-07T07:55:57Z</dcterms:created>
  <dcterms:modified xsi:type="dcterms:W3CDTF">2026-03-18T14:15:27Z</dcterms:modified>
</cp:coreProperties>
</file>